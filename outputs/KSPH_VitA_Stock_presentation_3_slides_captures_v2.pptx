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0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captures fournies par l'utilisateur et code local des projets vita_back, vita-frontend et vita_mobile.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captures utilisateurs et référentiel fournies par l'utilisateur.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deux captures du module Alertes fournies par l'utilisateur.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captures de connexion mobile et formulaire de saisie stock fournies par l'utilisateur.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BD583EC-CDDE-4C89-9A55-FA58E793BD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5D8F5-D715-459E-8504-4F969FF103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809750"/>
          </a:xfrm>
          <a:prstGeom prst="rect">
            <a:avLst/>
          </a:prstGeom>
          <a:solidFill>
            <a:srgbClr val="E9F7F1"/>
          </a:solidFill>
          <a:ln w="9525">
            <a:solidFill>
              <a:srgbClr val="E9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033A1-965C-45DB-9945-5C9B894DDF38}"/>
              </a:ext>
            </a:extLst>
          </p:cNvPr>
          <p:cNvSpPr>
            <a:spLocks noGrp="1"/>
          </p:cNvSpPr>
          <p:nvPr/>
        </p:nvSpPr>
        <p:spPr>
          <a:xfrm>
            <a:off x="762000" y="8191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927" lnSpcReduction="10000"/>
          </a:bodyPr>
          <a:lstStyle/>
          <a:p>
            <a:pPr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A9FE3D-E8D2-4DD7-858E-F46E60CA7BA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Évolution</a:t>
            </a:r>
            <a:r>
              <a:rPr sz="16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du </a:t>
            </a:r>
            <a:r>
              <a:rPr sz="165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projet</a:t>
            </a:r>
            <a:r>
              <a:rPr sz="16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: phase de </a:t>
            </a:r>
            <a:r>
              <a:rPr lang="en-US" sz="165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déploiement</a:t>
            </a:r>
            <a:endParaRPr sz="165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2507" r="2507"/>
          <a:stretch>
            <a:fillRect/>
          </a:stretch>
        </p:blipFill>
        <p:spPr>
          <a:xfrm>
            <a:off x="886405" y="2107744"/>
            <a:ext cx="4381500" cy="2476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100E79-2B91-4702-AF24-9BF5C8B56DCC}"/>
              </a:ext>
            </a:extLst>
          </p:cNvPr>
          <p:cNvSpPr>
            <a:spLocks noGrp="1"/>
          </p:cNvSpPr>
          <p:nvPr/>
        </p:nvSpPr>
        <p:spPr>
          <a:xfrm>
            <a:off x="781050" y="4983715"/>
            <a:ext cx="3143250" cy="361950"/>
          </a:xfrm>
          <a:prstGeom prst="rect">
            <a:avLst/>
          </a:prstGeom>
          <a:solidFill>
            <a:srgbClr val="F8FAFC"/>
          </a:solidFill>
          <a:ln w="9525">
            <a:solidFill>
              <a:srgbClr val="DDE5EC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Version de démonstration fonctionnelle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34C87-A89C-414B-9834-27471EC1BE1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08"/>
          </a:bodyPr>
          <a:lstStyle/>
          <a:p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65359-F914-47E2-8D19-64A9DF5240E5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19"/>
          </a:bodyPr>
          <a:lstStyle/>
          <a:p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940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930B91-BACF-48C1-9781-AB95462CAAF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Console admin: </a:t>
            </a:r>
            <a:r>
              <a:rPr sz="2800" b="1" dirty="0" err="1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utilisateurs</a:t>
            </a:r>
            <a:r>
              <a:rPr sz="2800" b="1" dirty="0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 et </a:t>
            </a:r>
            <a:r>
              <a:rPr sz="2800" b="1" dirty="0" err="1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référentiel</a:t>
            </a:r>
            <a:endParaRPr sz="2800" b="1" dirty="0">
              <a:solidFill>
                <a:srgbClr val="0F172A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5946DD-B5C5-4B3A-8855-DDED57FF2456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Les captures montrent la préparation des comptes, des structures et du produit Vitamine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D45C6-0D9A-4087-95EB-A6F598E19DB3}"/>
              </a:ext>
            </a:extLst>
          </p:cNvPr>
          <p:cNvSpPr>
            <a:spLocks noGrp="1"/>
          </p:cNvSpPr>
          <p:nvPr/>
        </p:nvSpPr>
        <p:spPr>
          <a:xfrm>
            <a:off x="11144250" y="4762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188B4-5782-4506-AE60-8ABC780781EA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990600" cy="38100"/>
          </a:xfrm>
          <a:prstGeom prst="rect">
            <a:avLst/>
          </a:prstGeom>
          <a:solidFill>
            <a:srgbClr val="0B7F5A"/>
          </a:solidFill>
          <a:ln w="0">
            <a:solidFill>
              <a:srgbClr val="0B7F5A"/>
            </a:solidFill>
          </a:ln>
        </p:spPr>
        <p:txBody>
          <a:bodyPr/>
          <a:lstStyle/>
          <a:p>
            <a:endParaRPr lang="en-US" sz="2400">
              <a:latin typeface="Arial Narrow" panose="020B0606020202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1756" b="1756"/>
          <a:stretch>
            <a:fillRect/>
          </a:stretch>
        </p:blipFill>
        <p:spPr>
          <a:xfrm>
            <a:off x="590550" y="1428750"/>
            <a:ext cx="4953000" cy="25717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81602" y="4171950"/>
            <a:ext cx="3370896" cy="1809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3BF80B-A8B4-455A-B05C-34DE33FB2730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Création</a:t>
            </a:r>
            <a:r>
              <a:rPr sz="1400" b="1" dirty="0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 des </a:t>
            </a:r>
            <a:r>
              <a:rPr sz="1400" b="1" dirty="0" err="1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utilisateurs</a:t>
            </a:r>
            <a:endParaRPr sz="1400" b="1" dirty="0">
              <a:solidFill>
                <a:srgbClr val="0B7F5A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AA5785-CCF3-4405-9673-920245436D93}"/>
              </a:ext>
            </a:extLst>
          </p:cNvPr>
          <p:cNvSpPr>
            <a:spLocks noGrp="1"/>
          </p:cNvSpPr>
          <p:nvPr/>
        </p:nvSpPr>
        <p:spPr>
          <a:xfrm>
            <a:off x="6096000" y="17716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Le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formulaire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permet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de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créer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un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compte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choisir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un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rôle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,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définir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un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périmètre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et affecter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l'utilisateur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à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une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structure.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F959B-7C1B-4550-939B-CB03852CAC05}"/>
              </a:ext>
            </a:extLst>
          </p:cNvPr>
          <p:cNvSpPr>
            <a:spLocks noGrp="1"/>
          </p:cNvSpPr>
          <p:nvPr/>
        </p:nvSpPr>
        <p:spPr>
          <a:xfrm>
            <a:off x="6096000" y="27051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Comptes</a:t>
            </a:r>
            <a:r>
              <a:rPr sz="1600" b="1" dirty="0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0B7F5A"/>
                </a:solidFill>
                <a:latin typeface="Arial Narrow" panose="020B0606020202030204" pitchFamily="34" charset="0"/>
                <a:ea typeface="Aptos"/>
                <a:cs typeface="Aptos"/>
              </a:rPr>
              <a:t>actifs</a:t>
            </a:r>
            <a:endParaRPr sz="1600" b="1" dirty="0">
              <a:solidFill>
                <a:srgbClr val="0B7F5A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CF085C-3F61-4CD1-B716-71BAC4A9A18C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La liste affiche les utilisateurs existants avec téléphone, rôle et statut. Elle sert au suivi des accès terrain et supervision.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2C6837-F065-4F62-AF21-2DD1192A8A4C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Référentiel</a:t>
            </a:r>
            <a:r>
              <a:rPr sz="1400" b="1" dirty="0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 sanitaire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5AC9C4-52F2-4B5D-8622-5DDD959B23B6}"/>
              </a:ext>
            </a:extLst>
          </p:cNvPr>
          <p:cNvSpPr>
            <a:spLocks noGrp="1"/>
          </p:cNvSpPr>
          <p:nvPr/>
        </p:nvSpPr>
        <p:spPr>
          <a:xfrm>
            <a:off x="6096000" y="46672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Les formulaires couvrent province, zone de santé, structure et produit. Vitamine A apparaît comme produit suivi en capsule.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DAF2D-CE18-49F9-8BD5-014B75B691F2}"/>
              </a:ext>
            </a:extLst>
          </p:cNvPr>
          <p:cNvSpPr>
            <a:spLocks noGrp="1"/>
          </p:cNvSpPr>
          <p:nvPr/>
        </p:nvSpPr>
        <p:spPr>
          <a:xfrm>
            <a:off x="628650" y="6381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10000"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87455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B9D23E-8106-4E87-94DD-88173E137E8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Console admin: alertes opérationnelles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11351B-FCB7-41AC-91FA-E7D7C0DF1A08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Les deux captures montrent le même module de suivi des risques et retards de rapport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9877C-C1DE-4B8D-82E0-CA8DAB6D8FAF}"/>
              </a:ext>
            </a:extLst>
          </p:cNvPr>
          <p:cNvSpPr>
            <a:spLocks noGrp="1"/>
          </p:cNvSpPr>
          <p:nvPr/>
        </p:nvSpPr>
        <p:spPr>
          <a:xfrm>
            <a:off x="11144250" y="4762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C0C1C-1C25-4A1E-9BB2-0CF2BEA2CF78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990600" cy="38100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</a:ln>
        </p:spPr>
        <p:txBody>
          <a:bodyPr/>
          <a:lstStyle/>
          <a:p>
            <a:endParaRPr lang="en-US" sz="2400">
              <a:latin typeface="Arial Narrow" panose="020B060602020203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2134" r="2134"/>
          <a:stretch>
            <a:fillRect/>
          </a:stretch>
        </p:blipFill>
        <p:spPr>
          <a:xfrm>
            <a:off x="590550" y="1466850"/>
            <a:ext cx="5191125" cy="29146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rcRect t="27811" b="27811"/>
          <a:stretch>
            <a:fillRect/>
          </a:stretch>
        </p:blipFill>
        <p:spPr>
          <a:xfrm>
            <a:off x="590550" y="4591050"/>
            <a:ext cx="5191125" cy="1238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DEF77B-6A58-4655-A4D8-0763081EC770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Évaluer</a:t>
            </a:r>
            <a:r>
              <a:rPr sz="1400" b="1" dirty="0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 les </a:t>
            </a:r>
            <a:r>
              <a:rPr sz="1400" b="1" dirty="0" err="1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alertes</a:t>
            </a:r>
            <a:endParaRPr sz="1400" b="1" dirty="0">
              <a:solidFill>
                <a:srgbClr val="B7791F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83FB6-5818-4EB4-9489-F5604B53D3AD}"/>
              </a:ext>
            </a:extLst>
          </p:cNvPr>
          <p:cNvSpPr>
            <a:spLocks noGrp="1"/>
          </p:cNvSpPr>
          <p:nvPr/>
        </p:nvSpPr>
        <p:spPr>
          <a:xfrm>
            <a:off x="6334125" y="17907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Le bouton en haut à droite permet de relancer l'analyse des situations à risque à partir des données disponibles.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810664-2809-44F2-9AE3-A5FE2A6B6665}"/>
              </a:ext>
            </a:extLst>
          </p:cNvPr>
          <p:cNvSpPr>
            <a:spLocks noGrp="1"/>
          </p:cNvSpPr>
          <p:nvPr/>
        </p:nvSpPr>
        <p:spPr>
          <a:xfrm>
            <a:off x="6334125" y="276225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Stock critique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518E58-7334-45C5-9417-B5E83CBAD739}"/>
              </a:ext>
            </a:extLst>
          </p:cNvPr>
          <p:cNvSpPr>
            <a:spLocks noGrp="1"/>
          </p:cNvSpPr>
          <p:nvPr/>
        </p:nvSpPr>
        <p:spPr>
          <a:xfrm>
            <a:off x="6334125" y="30289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L'alerte critical_stock signale CS Binza avec environ 1 jour de stock restant pour la Vitamine 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078DA-C0FD-48CF-B931-99C3D0865AC2}"/>
              </a:ext>
            </a:extLst>
          </p:cNvPr>
          <p:cNvSpPr>
            <a:spLocks noGrp="1"/>
          </p:cNvSpPr>
          <p:nvPr/>
        </p:nvSpPr>
        <p:spPr>
          <a:xfrm>
            <a:off x="6334125" y="40005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Rapport manquant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4C5115-E459-4330-9FC8-E8355250B491}"/>
              </a:ext>
            </a:extLst>
          </p:cNvPr>
          <p:cNvSpPr>
            <a:spLocks noGrp="1"/>
          </p:cNvSpPr>
          <p:nvPr/>
        </p:nvSpPr>
        <p:spPr>
          <a:xfrm>
            <a:off x="6334125" y="42672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L'alerte missing_report signale CS Nzanza lorsque le rapport attendu n'a pas été reçu à temps.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9303B1-010A-407F-ACB9-326518804883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rial Narrow" panose="020B0606020202030204" pitchFamily="34" charset="0"/>
                <a:ea typeface="Aptos"/>
                <a:cs typeface="Aptos"/>
              </a:rPr>
              <a:t>Traitement des alertes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41F824-B601-4FC7-A73C-47AC905B5E63}"/>
              </a:ext>
            </a:extLst>
          </p:cNvPr>
          <p:cNvSpPr>
            <a:spLocks noGrp="1"/>
          </p:cNvSpPr>
          <p:nvPr/>
        </p:nvSpPr>
        <p:spPr>
          <a:xfrm>
            <a:off x="6334125" y="55054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Les actions à droite de chaque ligne servent à accuser réception ou résoudre une alerte suivie par les responsables.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EB627-F3D4-4DBC-9270-73C0CF4A3F07}"/>
              </a:ext>
            </a:extLst>
          </p:cNvPr>
          <p:cNvSpPr>
            <a:spLocks noGrp="1"/>
          </p:cNvSpPr>
          <p:nvPr/>
        </p:nvSpPr>
        <p:spPr>
          <a:xfrm>
            <a:off x="628650" y="6381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10000"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24003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641AA8-B709-4AB0-BA4D-A184E9015D8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0F172A"/>
                </a:solidFill>
                <a:latin typeface="Arial Narrow" panose="020B0606020202030204" pitchFamily="34" charset="0"/>
                <a:ea typeface="Aptos"/>
                <a:cs typeface="Aptos"/>
              </a:rPr>
              <a:t>Application mobile: connexion et saisie stock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3CBF43-463E-429E-AB34-8322DA253845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Les captures montrent le parcours terrain, de l'identification à l'enregistrement du rapport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51C91-EEC2-4ECC-9C2E-038D401F3D51}"/>
              </a:ext>
            </a:extLst>
          </p:cNvPr>
          <p:cNvSpPr>
            <a:spLocks noGrp="1"/>
          </p:cNvSpPr>
          <p:nvPr/>
        </p:nvSpPr>
        <p:spPr>
          <a:xfrm>
            <a:off x="11144250" y="4762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2B9005-7815-46D4-972F-048F5DC7EA56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990600" cy="38100"/>
          </a:xfrm>
          <a:prstGeom prst="rect">
            <a:avLst/>
          </a:prstGeom>
          <a:solidFill>
            <a:srgbClr val="285E8E"/>
          </a:solidFill>
          <a:ln w="0">
            <a:solidFill>
              <a:srgbClr val="285E8E"/>
            </a:solidFill>
          </a:ln>
        </p:spPr>
        <p:txBody>
          <a:bodyPr/>
          <a:lstStyle/>
          <a:p>
            <a:endParaRPr lang="en-US" sz="2400">
              <a:latin typeface="Arial Narrow" panose="020B060602020203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t="18846" b="18846"/>
          <a:stretch>
            <a:fillRect/>
          </a:stretch>
        </p:blipFill>
        <p:spPr>
          <a:xfrm>
            <a:off x="704850" y="1428750"/>
            <a:ext cx="2476500" cy="3429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26669" y="1352550"/>
            <a:ext cx="1928813" cy="4286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6EDC4A-89CF-4002-A5CF-ACBC1996DF19}"/>
              </a:ext>
            </a:extLst>
          </p:cNvPr>
          <p:cNvSpPr>
            <a:spLocks noGrp="1"/>
          </p:cNvSpPr>
          <p:nvPr/>
        </p:nvSpPr>
        <p:spPr>
          <a:xfrm>
            <a:off x="6619875" y="14478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Connexion</a:t>
            </a:r>
            <a:r>
              <a:rPr sz="1400" b="1" dirty="0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 terrain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7A1180-FD0D-4E83-9112-660492BA7D83}"/>
              </a:ext>
            </a:extLst>
          </p:cNvPr>
          <p:cNvSpPr>
            <a:spLocks noGrp="1"/>
          </p:cNvSpPr>
          <p:nvPr/>
        </p:nvSpPr>
        <p:spPr>
          <a:xfrm>
            <a:off x="6619875" y="17145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L'utilisateur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se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connecte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avec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téléphone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ou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email et mot de passe.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L'écran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reprend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l'identité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VitA</a:t>
            </a:r>
            <a:r>
              <a:rPr sz="1600" b="0" dirty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 Stock.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D32E8F-0066-491F-BD6F-DC099D277789}"/>
              </a:ext>
            </a:extLst>
          </p:cNvPr>
          <p:cNvSpPr>
            <a:spLocks noGrp="1"/>
          </p:cNvSpPr>
          <p:nvPr/>
        </p:nvSpPr>
        <p:spPr>
          <a:xfrm>
            <a:off x="6619875" y="26670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Profil</a:t>
            </a:r>
            <a:r>
              <a:rPr sz="1400" b="1" dirty="0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 visible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103F8A-D74A-44C3-B432-6F2B670E4BCB}"/>
              </a:ext>
            </a:extLst>
          </p:cNvPr>
          <p:cNvSpPr>
            <a:spLocks noGrp="1"/>
          </p:cNvSpPr>
          <p:nvPr/>
        </p:nvSpPr>
        <p:spPr>
          <a:xfrm>
            <a:off x="6619875" y="29337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Le formulaire affiche l'utilisateur connecté, ici un relais communautaire, avant la saisie des données.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26D11-3513-42D0-AE61-41EBA83B70B2}"/>
              </a:ext>
            </a:extLst>
          </p:cNvPr>
          <p:cNvSpPr>
            <a:spLocks noGrp="1"/>
          </p:cNvSpPr>
          <p:nvPr/>
        </p:nvSpPr>
        <p:spPr>
          <a:xfrm>
            <a:off x="6619875" y="38862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Formulaire</a:t>
            </a:r>
            <a:r>
              <a:rPr sz="1400" b="1" dirty="0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complet</a:t>
            </a:r>
            <a:endParaRPr sz="1400" b="1" dirty="0">
              <a:solidFill>
                <a:srgbClr val="285E8E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B7BD0-110D-4F2A-8A84-A9A2513CC6AA}"/>
              </a:ext>
            </a:extLst>
          </p:cNvPr>
          <p:cNvSpPr>
            <a:spLocks noGrp="1"/>
          </p:cNvSpPr>
          <p:nvPr/>
        </p:nvSpPr>
        <p:spPr>
          <a:xfrm>
            <a:off x="6619875" y="4152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La saisie couvre structure, produit, période, quantités reçues, distribuées et disponibles.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0EE060-6F6F-40E6-A234-A9006AF8EB6E}"/>
              </a:ext>
            </a:extLst>
          </p:cNvPr>
          <p:cNvSpPr>
            <a:spLocks noGrp="1"/>
          </p:cNvSpPr>
          <p:nvPr/>
        </p:nvSpPr>
        <p:spPr>
          <a:xfrm>
            <a:off x="6619875" y="5105400"/>
            <a:ext cx="3190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Rupture </a:t>
            </a:r>
            <a:r>
              <a:rPr sz="1400" b="1" dirty="0" err="1">
                <a:solidFill>
                  <a:srgbClr val="285E8E"/>
                </a:solidFill>
                <a:latin typeface="Arial Narrow" panose="020B0606020202030204" pitchFamily="34" charset="0"/>
                <a:ea typeface="Aptos"/>
                <a:cs typeface="Aptos"/>
              </a:rPr>
              <a:t>déclarée</a:t>
            </a:r>
            <a:endParaRPr sz="1400" b="1" dirty="0">
              <a:solidFill>
                <a:srgbClr val="285E8E"/>
              </a:solidFill>
              <a:latin typeface="Arial Narrow" panose="020B0606020202030204" pitchFamily="34" charset="0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BAE62D-7686-4041-902D-DB5733671095}"/>
              </a:ext>
            </a:extLst>
          </p:cNvPr>
          <p:cNvSpPr>
            <a:spLocks noGrp="1"/>
          </p:cNvSpPr>
          <p:nvPr/>
        </p:nvSpPr>
        <p:spPr>
          <a:xfrm>
            <a:off x="6619875" y="53721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334155"/>
                </a:solidFill>
                <a:latin typeface="Arial Narrow" panose="020B0606020202030204" pitchFamily="34" charset="0"/>
                <a:ea typeface="Aptos"/>
                <a:cs typeface="Aptos"/>
              </a:rPr>
              <a:t>La bascule de rupture et le commentaire optionnel ajoutent le contexte nécessaire aux superviseurs.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878997-86BA-4E5C-BCF8-FE9121600889}"/>
              </a:ext>
            </a:extLst>
          </p:cNvPr>
          <p:cNvSpPr>
            <a:spLocks noGrp="1"/>
          </p:cNvSpPr>
          <p:nvPr/>
        </p:nvSpPr>
        <p:spPr>
          <a:xfrm>
            <a:off x="628650" y="6381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22" lnSpcReduction="10000"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64748B"/>
                </a:solidFill>
                <a:latin typeface="Arial Narrow" panose="020B0606020202030204" pitchFamily="34" charset="0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3111044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DocSecurity>0</DocSecurity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 Narrow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Lucien Bangelesa</cp:lastModifiedBy>
  <cp:revision>1</cp:revision>
  <dcterms:created xsi:type="dcterms:W3CDTF">2026-09-23T13:59:00Z</dcterms:created>
  <dcterms:modified xsi:type="dcterms:W3CDTF">2026-09-23T14:10:15Z</dcterms:modified>
</cp:coreProperties>
</file>